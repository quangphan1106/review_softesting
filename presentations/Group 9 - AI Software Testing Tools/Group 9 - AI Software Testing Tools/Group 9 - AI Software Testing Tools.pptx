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Proxima Nova"/>
      <p:regular r:id="rId52"/>
      <p:bold r:id="rId53"/>
      <p:italic r:id="rId54"/>
      <p:boldItalic r:id="rId55"/>
    </p:embeddedFont>
    <p:embeddedFont>
      <p:font typeface="Montserrat"/>
      <p:regular r:id="rId56"/>
      <p:bold r:id="rId57"/>
      <p:italic r:id="rId58"/>
      <p:boldItalic r:id="rId59"/>
    </p:embeddedFont>
    <p:embeddedFont>
      <p:font typeface="Proxima Nova Semibold"/>
      <p:regular r:id="rId60"/>
      <p:bold r:id="rId61"/>
      <p:boldItalic r:id="rId62"/>
    </p:embeddedFont>
    <p:embeddedFont>
      <p:font typeface="Alfa Slab One"/>
      <p:regular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A966AB-0153-49B2-8CC4-404B1B75563B}">
  <a:tblStyle styleId="{ADA966AB-0153-49B2-8CC4-404B1B7556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roximaNovaSemibold-boldItalic.fntdata"/><Relationship Id="rId61" Type="http://schemas.openxmlformats.org/officeDocument/2006/relationships/font" Target="fonts/ProximaNovaSemibold-bold.fntdata"/><Relationship Id="rId20" Type="http://schemas.openxmlformats.org/officeDocument/2006/relationships/slide" Target="slides/slide14.xml"/><Relationship Id="rId63" Type="http://schemas.openxmlformats.org/officeDocument/2006/relationships/font" Target="fonts/AlfaSlabOne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ProximaNovaSemibold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ProximaNova-bold.fntdata"/><Relationship Id="rId52" Type="http://schemas.openxmlformats.org/officeDocument/2006/relationships/font" Target="fonts/ProximaNova-regular.fntdata"/><Relationship Id="rId11" Type="http://schemas.openxmlformats.org/officeDocument/2006/relationships/slide" Target="slides/slide5.xml"/><Relationship Id="rId55" Type="http://schemas.openxmlformats.org/officeDocument/2006/relationships/font" Target="fonts/ProximaNova-boldItalic.fntdata"/><Relationship Id="rId10" Type="http://schemas.openxmlformats.org/officeDocument/2006/relationships/slide" Target="slides/slide4.xml"/><Relationship Id="rId54" Type="http://schemas.openxmlformats.org/officeDocument/2006/relationships/font" Target="fonts/ProximaNova-italic.fntdata"/><Relationship Id="rId13" Type="http://schemas.openxmlformats.org/officeDocument/2006/relationships/slide" Target="slides/slide7.xml"/><Relationship Id="rId57" Type="http://schemas.openxmlformats.org/officeDocument/2006/relationships/font" Target="fonts/Montserrat-bold.fntdata"/><Relationship Id="rId12" Type="http://schemas.openxmlformats.org/officeDocument/2006/relationships/slide" Target="slides/slide6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83aeda460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983aeda460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83aeda460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83aeda460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9d48b30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9d48b30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83aeda460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83aeda460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3aeda460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83aeda460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83aeda460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83aeda460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fa55ec9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fa55ec9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83aeda460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83aeda460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5e877010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5e877010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83aeda460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83aeda460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5e877010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5e877010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83aeda460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83aeda460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83aeda460_0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83aeda460_0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097bbf5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097bbf5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f2d630b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f2d630b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f2d630b7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f2d630b7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f2d630b7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f2d630b7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f2d630b7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f2d630b7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f2d630b7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f2d630b7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f2d630b7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f2d630b7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f2d630b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f2d630b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f2d630b7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f2d630b7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f2d630b7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f2d630b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f2d630b7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f2d630b7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fa55ec9c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fa55ec9c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f28116c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f28116c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f28116c8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f28116c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f28116c8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f28116c8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5f86b30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a5f86b30de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f28116c8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f28116c8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5f86b30d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a5f86b30de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f28116c8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af28116c88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097bbf5c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a097bbf5c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5da48a8a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5da48a8a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5da48a8a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a5da48a8a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5da48a8a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5da48a8a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5e877010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a5e877010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5da48a8a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5da48a8a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5e877010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5e877010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e877010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5e87701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a5da48a8a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a5da48a8a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5d9685a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5d9685a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5d9685ae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a5d9685ae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83aeda460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983aeda460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983aeda460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983aeda460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drive.google.com/file/d/1KWTSXG0iprEjHPGqRdvk0qRTYf-wrg-B/view" TargetMode="External"/><Relationship Id="rId4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aws.amazon.com/blogs/industries/using-generative-ai-to-create-test-cases-for-software-requirements/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5882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AI Software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Testing Tools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5"/>
            <a:ext cx="8520600" cy="14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/>
              <a:t>22125020 - Nguyen Bach Truong Giang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/>
              <a:t>22125071 - Dang Minh Nhut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/>
              <a:t>22125008 - Luu Quoc Bao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/>
              <a:t>22125035 - Nguyen Vinh Khang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Table of Contents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vi" sz="2300"/>
              <a:t>AI for Test Case Design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vi" sz="2300"/>
              <a:t>Experiment</a:t>
            </a:r>
            <a:r>
              <a:rPr b="1" lang="vi" sz="2300"/>
              <a:t>:</a:t>
            </a:r>
            <a:r>
              <a:rPr lang="vi" sz="2300"/>
              <a:t> AI for </a:t>
            </a:r>
            <a:r>
              <a:rPr lang="vi" sz="2300"/>
              <a:t>Test Case Design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vi" sz="2300"/>
              <a:t>AI for </a:t>
            </a:r>
            <a:r>
              <a:rPr lang="vi" sz="2300"/>
              <a:t>Unit</a:t>
            </a:r>
            <a:r>
              <a:rPr lang="vi" sz="2300"/>
              <a:t> Testing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vi" sz="2300"/>
              <a:t>Experiment</a:t>
            </a:r>
            <a:r>
              <a:rPr b="1" lang="vi" sz="2300"/>
              <a:t>:</a:t>
            </a:r>
            <a:r>
              <a:rPr lang="vi" sz="2300"/>
              <a:t> AI for </a:t>
            </a:r>
            <a:r>
              <a:rPr lang="vi" sz="2300"/>
              <a:t>Unit</a:t>
            </a:r>
            <a:r>
              <a:rPr lang="vi" sz="2300"/>
              <a:t> Testing</a:t>
            </a:r>
            <a:endParaRPr sz="2300"/>
          </a:p>
        </p:txBody>
      </p:sp>
      <p:sp>
        <p:nvSpPr>
          <p:cNvPr id="64" name="Google Shape;64;p14"/>
          <p:cNvSpPr/>
          <p:nvPr/>
        </p:nvSpPr>
        <p:spPr>
          <a:xfrm>
            <a:off x="-5250" y="4703625"/>
            <a:ext cx="9154500" cy="155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-5250" y="4911700"/>
            <a:ext cx="9154500" cy="27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446279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testers do their job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041750" y="3499950"/>
            <a:ext cx="1948800" cy="99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Test closure</a:t>
            </a:r>
            <a:endParaRPr b="1" sz="20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77" name="Google Shape;77;p16"/>
          <p:cNvGrpSpPr/>
          <p:nvPr/>
        </p:nvGrpSpPr>
        <p:grpSpPr>
          <a:xfrm>
            <a:off x="1041750" y="1504325"/>
            <a:ext cx="1948800" cy="1422900"/>
            <a:chOff x="646425" y="1800100"/>
            <a:chExt cx="1948800" cy="1422900"/>
          </a:xfrm>
        </p:grpSpPr>
        <p:sp>
          <p:nvSpPr>
            <p:cNvPr id="78" name="Google Shape;78;p16"/>
            <p:cNvSpPr/>
            <p:nvPr/>
          </p:nvSpPr>
          <p:spPr>
            <a:xfrm>
              <a:off x="646425" y="2220400"/>
              <a:ext cx="1948800" cy="1002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Requirements analysis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1334475" y="1800100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80" name="Google Shape;80;p16"/>
          <p:cNvGrpSpPr/>
          <p:nvPr/>
        </p:nvGrpSpPr>
        <p:grpSpPr>
          <a:xfrm>
            <a:off x="3597600" y="1504325"/>
            <a:ext cx="1948800" cy="1422900"/>
            <a:chOff x="3316575" y="1504325"/>
            <a:chExt cx="1948800" cy="1422900"/>
          </a:xfrm>
        </p:grpSpPr>
        <p:sp>
          <p:nvSpPr>
            <p:cNvPr id="81" name="Google Shape;81;p16"/>
            <p:cNvSpPr/>
            <p:nvPr/>
          </p:nvSpPr>
          <p:spPr>
            <a:xfrm>
              <a:off x="3316575" y="1914725"/>
              <a:ext cx="1948800" cy="1012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Test planning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4004625" y="1504325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83" name="Google Shape;83;p16"/>
          <p:cNvGrpSpPr/>
          <p:nvPr/>
        </p:nvGrpSpPr>
        <p:grpSpPr>
          <a:xfrm>
            <a:off x="6153450" y="1499925"/>
            <a:ext cx="1948800" cy="1431675"/>
            <a:chOff x="5733750" y="1504325"/>
            <a:chExt cx="1948800" cy="1431675"/>
          </a:xfrm>
        </p:grpSpPr>
        <p:sp>
          <p:nvSpPr>
            <p:cNvPr id="84" name="Google Shape;84;p16"/>
            <p:cNvSpPr/>
            <p:nvPr/>
          </p:nvSpPr>
          <p:spPr>
            <a:xfrm>
              <a:off x="5733750" y="1913000"/>
              <a:ext cx="1948800" cy="1023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Test design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6421800" y="1504325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86" name="Google Shape;86;p16"/>
          <p:cNvSpPr/>
          <p:nvPr/>
        </p:nvSpPr>
        <p:spPr>
          <a:xfrm>
            <a:off x="1729800" y="3164775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b="1"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153450" y="3499938"/>
            <a:ext cx="1948800" cy="99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Environment setup</a:t>
            </a:r>
            <a:endParaRPr b="1" sz="20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841500" y="3164763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597600" y="3499950"/>
            <a:ext cx="1948800" cy="99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Test execution</a:t>
            </a:r>
            <a:endParaRPr b="1" sz="20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285650" y="3164775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b="1"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91" name="Google Shape;91;p16"/>
          <p:cNvCxnSpPr>
            <a:stCxn id="78" idx="3"/>
            <a:endCxn id="81" idx="1"/>
          </p:cNvCxnSpPr>
          <p:nvPr/>
        </p:nvCxnSpPr>
        <p:spPr>
          <a:xfrm flipH="1" rot="10800000">
            <a:off x="2990550" y="2421125"/>
            <a:ext cx="607200" cy="4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2" name="Google Shape;92;p16"/>
          <p:cNvCxnSpPr>
            <a:stCxn id="81" idx="3"/>
            <a:endCxn id="84" idx="1"/>
          </p:cNvCxnSpPr>
          <p:nvPr/>
        </p:nvCxnSpPr>
        <p:spPr>
          <a:xfrm flipH="1" rot="10800000">
            <a:off x="5546400" y="2420075"/>
            <a:ext cx="607200" cy="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3" name="Google Shape;93;p16"/>
          <p:cNvCxnSpPr>
            <a:stCxn id="84" idx="3"/>
            <a:endCxn id="87" idx="3"/>
          </p:cNvCxnSpPr>
          <p:nvPr/>
        </p:nvCxnSpPr>
        <p:spPr>
          <a:xfrm>
            <a:off x="8102250" y="2420100"/>
            <a:ext cx="600" cy="15780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4" name="Google Shape;94;p16"/>
          <p:cNvCxnSpPr>
            <a:stCxn id="87" idx="1"/>
            <a:endCxn id="89" idx="3"/>
          </p:cNvCxnSpPr>
          <p:nvPr/>
        </p:nvCxnSpPr>
        <p:spPr>
          <a:xfrm rot="10800000">
            <a:off x="5546550" y="3998238"/>
            <a:ext cx="6069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5" name="Google Shape;95;p16"/>
          <p:cNvCxnSpPr>
            <a:stCxn id="89" idx="1"/>
            <a:endCxn id="76" idx="3"/>
          </p:cNvCxnSpPr>
          <p:nvPr/>
        </p:nvCxnSpPr>
        <p:spPr>
          <a:xfrm rot="10800000">
            <a:off x="2990700" y="3998250"/>
            <a:ext cx="6069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testers do their job</a:t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1041750" y="3499950"/>
            <a:ext cx="1948800" cy="99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C7D0EA"/>
                </a:solidFill>
                <a:latin typeface="Proxima Nova"/>
                <a:ea typeface="Proxima Nova"/>
                <a:cs typeface="Proxima Nova"/>
                <a:sym typeface="Proxima Nova"/>
              </a:rPr>
              <a:t>Test closure</a:t>
            </a:r>
            <a:endParaRPr b="1" sz="2000">
              <a:solidFill>
                <a:srgbClr val="C7D0E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1041750" y="1924625"/>
            <a:ext cx="1948800" cy="100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C7D0EA"/>
                </a:solidFill>
                <a:latin typeface="Proxima Nova"/>
                <a:ea typeface="Proxima Nova"/>
                <a:cs typeface="Proxima Nova"/>
                <a:sym typeface="Proxima Nova"/>
              </a:rPr>
              <a:t>Requirements analysis</a:t>
            </a:r>
            <a:endParaRPr b="1" sz="2000">
              <a:solidFill>
                <a:srgbClr val="C7D0E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1729800" y="1504325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9EA8AE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2000">
              <a:solidFill>
                <a:srgbClr val="9EA8AE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3597600" y="1914725"/>
            <a:ext cx="1948800" cy="101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C7D0EA"/>
                </a:solidFill>
                <a:latin typeface="Proxima Nova"/>
                <a:ea typeface="Proxima Nova"/>
                <a:cs typeface="Proxima Nova"/>
                <a:sym typeface="Proxima Nova"/>
              </a:rPr>
              <a:t>Test planning</a:t>
            </a:r>
            <a:endParaRPr b="1" sz="2000">
              <a:solidFill>
                <a:srgbClr val="C7D0E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285650" y="1504325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9EA8AE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 sz="2000">
              <a:solidFill>
                <a:srgbClr val="9EA8AE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6153450" y="1908600"/>
            <a:ext cx="1948800" cy="102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Test design</a:t>
            </a:r>
            <a:endParaRPr b="1" sz="20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841500" y="1499925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 sz="2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729800" y="3164775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9EA8AE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b="1" sz="2000">
              <a:solidFill>
                <a:srgbClr val="9EA8AE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153450" y="3499938"/>
            <a:ext cx="1948800" cy="99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C7D0EA"/>
                </a:solidFill>
                <a:latin typeface="Proxima Nova"/>
                <a:ea typeface="Proxima Nova"/>
                <a:cs typeface="Proxima Nova"/>
                <a:sym typeface="Proxima Nova"/>
              </a:rPr>
              <a:t>Environment setup</a:t>
            </a:r>
            <a:endParaRPr b="1" sz="2000">
              <a:solidFill>
                <a:srgbClr val="C7D0E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841500" y="3164763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9EA8AE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 sz="2000">
              <a:solidFill>
                <a:srgbClr val="9EA8AE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597600" y="3499950"/>
            <a:ext cx="1948800" cy="99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C7D0EA"/>
                </a:solidFill>
                <a:latin typeface="Proxima Nova"/>
                <a:ea typeface="Proxima Nova"/>
                <a:cs typeface="Proxima Nova"/>
                <a:sym typeface="Proxima Nova"/>
              </a:rPr>
              <a:t>Test execution</a:t>
            </a:r>
            <a:endParaRPr b="1" sz="2000">
              <a:solidFill>
                <a:srgbClr val="C7D0E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285650" y="3164775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9EA8AE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b="1" sz="2000">
              <a:solidFill>
                <a:srgbClr val="9EA8AE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13" name="Google Shape;113;p17"/>
          <p:cNvCxnSpPr>
            <a:stCxn id="102" idx="3"/>
            <a:endCxn id="104" idx="1"/>
          </p:cNvCxnSpPr>
          <p:nvPr/>
        </p:nvCxnSpPr>
        <p:spPr>
          <a:xfrm flipH="1" rot="10800000">
            <a:off x="2990550" y="2421125"/>
            <a:ext cx="607200" cy="4800"/>
          </a:xfrm>
          <a:prstGeom prst="straightConnector1">
            <a:avLst/>
          </a:prstGeom>
          <a:noFill/>
          <a:ln cap="flat" cmpd="sng" w="19050">
            <a:solidFill>
              <a:srgbClr val="FFD5A4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4" name="Google Shape;114;p17"/>
          <p:cNvCxnSpPr>
            <a:stCxn id="104" idx="3"/>
            <a:endCxn id="106" idx="1"/>
          </p:cNvCxnSpPr>
          <p:nvPr/>
        </p:nvCxnSpPr>
        <p:spPr>
          <a:xfrm flipH="1" rot="10800000">
            <a:off x="5546400" y="2420075"/>
            <a:ext cx="607200" cy="900"/>
          </a:xfrm>
          <a:prstGeom prst="straightConnector1">
            <a:avLst/>
          </a:prstGeom>
          <a:noFill/>
          <a:ln cap="flat" cmpd="sng" w="19050">
            <a:solidFill>
              <a:srgbClr val="FFD5A4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5" name="Google Shape;115;p17"/>
          <p:cNvCxnSpPr>
            <a:stCxn id="106" idx="3"/>
            <a:endCxn id="109" idx="3"/>
          </p:cNvCxnSpPr>
          <p:nvPr/>
        </p:nvCxnSpPr>
        <p:spPr>
          <a:xfrm>
            <a:off x="8102250" y="2420100"/>
            <a:ext cx="600" cy="15780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rgbClr val="FFD5A4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6" name="Google Shape;116;p17"/>
          <p:cNvCxnSpPr>
            <a:stCxn id="109" idx="1"/>
            <a:endCxn id="111" idx="3"/>
          </p:cNvCxnSpPr>
          <p:nvPr/>
        </p:nvCxnSpPr>
        <p:spPr>
          <a:xfrm rot="10800000">
            <a:off x="5546550" y="3998238"/>
            <a:ext cx="606900" cy="0"/>
          </a:xfrm>
          <a:prstGeom prst="straightConnector1">
            <a:avLst/>
          </a:prstGeom>
          <a:noFill/>
          <a:ln cap="flat" cmpd="sng" w="19050">
            <a:solidFill>
              <a:srgbClr val="FFD5A4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7" name="Google Shape;117;p17"/>
          <p:cNvCxnSpPr>
            <a:stCxn id="111" idx="1"/>
            <a:endCxn id="101" idx="3"/>
          </p:cNvCxnSpPr>
          <p:nvPr/>
        </p:nvCxnSpPr>
        <p:spPr>
          <a:xfrm rot="10800000">
            <a:off x="2990700" y="3998250"/>
            <a:ext cx="606900" cy="0"/>
          </a:xfrm>
          <a:prstGeom prst="straightConnector1">
            <a:avLst/>
          </a:prstGeom>
          <a:noFill/>
          <a:ln cap="flat" cmpd="sng" w="19050">
            <a:solidFill>
              <a:srgbClr val="FFD5A4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testers do their job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1598400" y="1696600"/>
            <a:ext cx="1948800" cy="102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Test design</a:t>
            </a:r>
            <a:endParaRPr b="1" sz="20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2286450" y="1287925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 sz="2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596800" y="1374663"/>
            <a:ext cx="1948800" cy="64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Test case</a:t>
            </a:r>
            <a:endParaRPr b="1" sz="23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596800" y="2397763"/>
            <a:ext cx="1948800" cy="64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Test data</a:t>
            </a:r>
            <a:endParaRPr b="1" sz="23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27" name="Google Shape;127;p18"/>
          <p:cNvCxnSpPr>
            <a:stCxn id="125" idx="1"/>
            <a:endCxn id="126" idx="1"/>
          </p:cNvCxnSpPr>
          <p:nvPr/>
        </p:nvCxnSpPr>
        <p:spPr>
          <a:xfrm>
            <a:off x="5596800" y="1696563"/>
            <a:ext cx="600" cy="1023000"/>
          </a:xfrm>
          <a:prstGeom prst="curvedConnector3">
            <a:avLst>
              <a:gd fmla="val -119687500" name="adj1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28" name="Google Shape;128;p18"/>
          <p:cNvCxnSpPr>
            <a:stCxn id="123" idx="3"/>
          </p:cNvCxnSpPr>
          <p:nvPr/>
        </p:nvCxnSpPr>
        <p:spPr>
          <a:xfrm flipH="1" rot="10800000">
            <a:off x="3547200" y="2207500"/>
            <a:ext cx="1341300" cy="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8"/>
          <p:cNvSpPr/>
          <p:nvPr/>
        </p:nvSpPr>
        <p:spPr>
          <a:xfrm>
            <a:off x="4415375" y="3391825"/>
            <a:ext cx="1862400" cy="11733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Human error</a:t>
            </a:r>
            <a:endParaRPr b="1" sz="2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662050" y="3391825"/>
            <a:ext cx="2054700" cy="11733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Time consuming</a:t>
            </a:r>
            <a:endParaRPr b="1"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1 - AI For </a:t>
            </a:r>
            <a:r>
              <a:rPr lang="vi"/>
              <a:t>Test Case Design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can AI help?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4520950" y="2697838"/>
            <a:ext cx="3772500" cy="7389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B9D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rPr>
              <a:t>Test case generation</a:t>
            </a:r>
            <a:endParaRPr b="1" sz="2300">
              <a:solidFill>
                <a:srgbClr val="A56A2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0"/>
          <p:cNvSpPr/>
          <p:nvPr/>
        </p:nvSpPr>
        <p:spPr>
          <a:xfrm flipH="1">
            <a:off x="850525" y="1706750"/>
            <a:ext cx="3772500" cy="738900"/>
          </a:xfrm>
          <a:prstGeom prst="round1Rect">
            <a:avLst>
              <a:gd fmla="val 16667" name="adj"/>
            </a:avLst>
          </a:prstGeom>
          <a:solidFill>
            <a:srgbClr val="FFD5A4"/>
          </a:solidFill>
          <a:ln cap="flat" cmpd="sng" w="28575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Test data generation</a:t>
            </a:r>
            <a:endParaRPr b="1" sz="23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INPUT</a:t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4520950" y="2697838"/>
            <a:ext cx="3772500" cy="738900"/>
          </a:xfrm>
          <a:prstGeom prst="round1Rect">
            <a:avLst>
              <a:gd fmla="val 16667" name="adj"/>
            </a:avLst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Source code/GUI</a:t>
            </a:r>
            <a:endParaRPr b="1" sz="2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21"/>
          <p:cNvSpPr/>
          <p:nvPr/>
        </p:nvSpPr>
        <p:spPr>
          <a:xfrm flipH="1">
            <a:off x="850525" y="1706750"/>
            <a:ext cx="3772500" cy="738900"/>
          </a:xfrm>
          <a:prstGeom prst="round1Rect">
            <a:avLst>
              <a:gd fmla="val 16667" name="adj"/>
            </a:avLst>
          </a:prstGeom>
          <a:solidFill>
            <a:schemeClr val="accent5"/>
          </a:solidFill>
          <a:ln cap="flat" cmpd="sng" w="28575">
            <a:solidFill>
              <a:srgbClr val="FFD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User stories, </a:t>
            </a:r>
            <a:endParaRPr b="1" sz="2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requirements specification</a:t>
            </a:r>
            <a:endParaRPr b="1" sz="2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3449234" y="1327225"/>
            <a:ext cx="2775000" cy="7389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rPr>
              <a:t>Test case design</a:t>
            </a:r>
            <a:endParaRPr b="1" sz="2000">
              <a:solidFill>
                <a:srgbClr val="A56A2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User stories and requirements specification</a:t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3449234" y="1327225"/>
            <a:ext cx="2775000" cy="7389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rPr>
              <a:t>Test case/data generation</a:t>
            </a:r>
            <a:endParaRPr b="1" sz="2000">
              <a:solidFill>
                <a:srgbClr val="A56A2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899025" y="1327225"/>
            <a:ext cx="1857900" cy="73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User stories</a:t>
            </a:r>
            <a:endParaRPr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899025" y="2301200"/>
            <a:ext cx="1857900" cy="8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Requirements specification</a:t>
            </a:r>
            <a:endParaRPr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9" name="Google Shape;159;p22"/>
          <p:cNvCxnSpPr>
            <a:stCxn id="157" idx="3"/>
            <a:endCxn id="156" idx="1"/>
          </p:cNvCxnSpPr>
          <p:nvPr/>
        </p:nvCxnSpPr>
        <p:spPr>
          <a:xfrm>
            <a:off x="2756925" y="1696675"/>
            <a:ext cx="692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2"/>
          <p:cNvCxnSpPr>
            <a:stCxn id="158" idx="3"/>
            <a:endCxn id="156" idx="1"/>
          </p:cNvCxnSpPr>
          <p:nvPr/>
        </p:nvCxnSpPr>
        <p:spPr>
          <a:xfrm flipH="1" rot="10800000">
            <a:off x="2756925" y="1696700"/>
            <a:ext cx="692400" cy="10485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1" name="Google Shape;161;p22"/>
          <p:cNvGrpSpPr/>
          <p:nvPr/>
        </p:nvGrpSpPr>
        <p:grpSpPr>
          <a:xfrm>
            <a:off x="3136705" y="2301200"/>
            <a:ext cx="3749195" cy="2149675"/>
            <a:chOff x="3136705" y="2301200"/>
            <a:chExt cx="3749195" cy="2149675"/>
          </a:xfrm>
        </p:grpSpPr>
        <p:sp>
          <p:nvSpPr>
            <p:cNvPr id="162" name="Google Shape;162;p22"/>
            <p:cNvSpPr txBox="1"/>
            <p:nvPr/>
          </p:nvSpPr>
          <p:spPr>
            <a:xfrm>
              <a:off x="3550275" y="2301200"/>
              <a:ext cx="1436400" cy="4926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2000">
                  <a:solidFill>
                    <a:srgbClr val="A56A2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ChatGPT</a:t>
              </a:r>
              <a:endParaRPr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63" name="Google Shape;163;p22"/>
            <p:cNvSpPr txBox="1"/>
            <p:nvPr/>
          </p:nvSpPr>
          <p:spPr>
            <a:xfrm>
              <a:off x="5087700" y="2517525"/>
              <a:ext cx="1798200" cy="621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2000">
                  <a:solidFill>
                    <a:srgbClr val="A56A2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Browserstack</a:t>
              </a:r>
              <a:endParaRPr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64" name="Google Shape;164;p22"/>
            <p:cNvSpPr txBox="1"/>
            <p:nvPr/>
          </p:nvSpPr>
          <p:spPr>
            <a:xfrm>
              <a:off x="4986716" y="3237900"/>
              <a:ext cx="1436400" cy="4926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2000">
                  <a:solidFill>
                    <a:srgbClr val="A56A2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GEMINI</a:t>
              </a:r>
              <a:endParaRPr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65" name="Google Shape;165;p22"/>
            <p:cNvSpPr txBox="1"/>
            <p:nvPr/>
          </p:nvSpPr>
          <p:spPr>
            <a:xfrm>
              <a:off x="3136705" y="3028875"/>
              <a:ext cx="1645800" cy="888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2000">
                  <a:solidFill>
                    <a:srgbClr val="A56A2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AI Test Case Generator</a:t>
              </a:r>
              <a:endParaRPr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66" name="Google Shape;166;p22"/>
            <p:cNvSpPr txBox="1"/>
            <p:nvPr/>
          </p:nvSpPr>
          <p:spPr>
            <a:xfrm>
              <a:off x="4867505" y="3958275"/>
              <a:ext cx="1436400" cy="4926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2000">
                  <a:solidFill>
                    <a:srgbClr val="A56A2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…</a:t>
              </a:r>
              <a:endParaRPr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67" name="Google Shape;167;p22"/>
          <p:cNvGrpSpPr/>
          <p:nvPr/>
        </p:nvGrpSpPr>
        <p:grpSpPr>
          <a:xfrm>
            <a:off x="6224234" y="1327225"/>
            <a:ext cx="2370891" cy="738900"/>
            <a:chOff x="6224234" y="1327225"/>
            <a:chExt cx="2370891" cy="738900"/>
          </a:xfrm>
        </p:grpSpPr>
        <p:sp>
          <p:nvSpPr>
            <p:cNvPr id="168" name="Google Shape;168;p22"/>
            <p:cNvSpPr/>
            <p:nvPr/>
          </p:nvSpPr>
          <p:spPr>
            <a:xfrm>
              <a:off x="7126925" y="1327225"/>
              <a:ext cx="1468200" cy="7389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Review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cxnSp>
          <p:nvCxnSpPr>
            <p:cNvPr id="169" name="Google Shape;169;p22"/>
            <p:cNvCxnSpPr>
              <a:stCxn id="156" idx="3"/>
              <a:endCxn id="168" idx="2"/>
            </p:cNvCxnSpPr>
            <p:nvPr/>
          </p:nvCxnSpPr>
          <p:spPr>
            <a:xfrm>
              <a:off x="6224234" y="1696675"/>
              <a:ext cx="90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70" name="Google Shape;170;p22" title="per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277" y="1251050"/>
            <a:ext cx="445600" cy="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 title="per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177" y="1251050"/>
            <a:ext cx="445600" cy="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 title="technolog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2781" y="1196050"/>
            <a:ext cx="500600" cy="5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/>
          <p:nvPr/>
        </p:nvSpPr>
        <p:spPr>
          <a:xfrm>
            <a:off x="4810225" y="1327225"/>
            <a:ext cx="1791000" cy="7389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rPr>
              <a:t>Test case</a:t>
            </a:r>
            <a:endParaRPr b="1" sz="2000">
              <a:solidFill>
                <a:srgbClr val="A56A2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No specification </a:t>
            </a:r>
            <a:r>
              <a:rPr lang="vi"/>
              <a:t>at all</a:t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2705426" y="1327225"/>
            <a:ext cx="1468200" cy="7389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A56A20"/>
                </a:solidFill>
                <a:latin typeface="Proxima Nova"/>
                <a:ea typeface="Proxima Nova"/>
                <a:cs typeface="Proxima Nova"/>
                <a:sym typeface="Proxima Nova"/>
              </a:rPr>
              <a:t>Scenarios</a:t>
            </a:r>
            <a:endParaRPr b="1" sz="2000">
              <a:solidFill>
                <a:srgbClr val="A56A2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690575" y="1327225"/>
            <a:ext cx="1271100" cy="73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Source</a:t>
            </a:r>
            <a:endParaRPr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81" name="Google Shape;181;p23"/>
          <p:cNvCxnSpPr>
            <a:stCxn id="180" idx="3"/>
            <a:endCxn id="179" idx="1"/>
          </p:cNvCxnSpPr>
          <p:nvPr/>
        </p:nvCxnSpPr>
        <p:spPr>
          <a:xfrm>
            <a:off x="1961675" y="1696675"/>
            <a:ext cx="743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3"/>
          <p:cNvSpPr/>
          <p:nvPr/>
        </p:nvSpPr>
        <p:spPr>
          <a:xfrm>
            <a:off x="6958525" y="1327225"/>
            <a:ext cx="1468200" cy="7389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Later steps</a:t>
            </a:r>
            <a:endParaRPr b="1" sz="20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83" name="Google Shape;183;p23"/>
          <p:cNvCxnSpPr>
            <a:stCxn id="179" idx="3"/>
            <a:endCxn id="177" idx="1"/>
          </p:cNvCxnSpPr>
          <p:nvPr/>
        </p:nvCxnSpPr>
        <p:spPr>
          <a:xfrm>
            <a:off x="4173626" y="1696675"/>
            <a:ext cx="63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4" name="Google Shape;184;p23" title="per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8152" y="881625"/>
            <a:ext cx="445600" cy="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 title="technolog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3231" y="1196075"/>
            <a:ext cx="500600" cy="50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3"/>
          <p:cNvCxnSpPr/>
          <p:nvPr/>
        </p:nvCxnSpPr>
        <p:spPr>
          <a:xfrm>
            <a:off x="6601228" y="1696675"/>
            <a:ext cx="35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7" name="Google Shape;187;p23" title="technolog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1631" y="1196075"/>
            <a:ext cx="500600" cy="5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/>
        </p:nvSpPr>
        <p:spPr>
          <a:xfrm>
            <a:off x="2777525" y="2676800"/>
            <a:ext cx="3705000" cy="461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Exploratory Testing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2777525" y="3543300"/>
            <a:ext cx="3705000" cy="461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Ad-hoc Testing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0" name="Google Shape;190;p23" title="technolog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9681" y="854125"/>
            <a:ext cx="500600" cy="5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311700" y="631800"/>
            <a:ext cx="4494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3000"/>
              <a:t>No specification at all</a:t>
            </a:r>
            <a:endParaRPr/>
          </a:p>
        </p:txBody>
      </p:sp>
      <p:pic>
        <p:nvPicPr>
          <p:cNvPr id="196" name="Google Shape;196;p24" title="sapienz_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1825" y="1094175"/>
            <a:ext cx="1739525" cy="173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525" y="1606157"/>
            <a:ext cx="4494326" cy="25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7012800" y="778800"/>
            <a:ext cx="138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Paper</a:t>
            </a:r>
            <a:endParaRPr b="1" sz="18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9" name="Google Shape;199;p24" title="sapienz_youtub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1825" y="3037250"/>
            <a:ext cx="1739525" cy="173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7010988" y="2764750"/>
            <a:ext cx="138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YouTube</a:t>
            </a:r>
            <a:endParaRPr b="1" sz="1800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927100" lvl="0" marL="457200" rtl="0" algn="ctr">
              <a:spcBef>
                <a:spcPts val="0"/>
              </a:spcBef>
              <a:spcAft>
                <a:spcPts val="0"/>
              </a:spcAft>
              <a:buSzPts val="11000"/>
              <a:buChar char="-"/>
            </a:pPr>
            <a:r>
              <a:rPr lang="vi" sz="1000"/>
              <a:t>up to</a:t>
            </a:r>
            <a:r>
              <a:rPr lang="vi" sz="2000"/>
              <a:t> </a:t>
            </a:r>
            <a:r>
              <a:rPr lang="vi"/>
              <a:t>80%</a:t>
            </a:r>
            <a:endParaRPr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950">
                <a:solidFill>
                  <a:schemeClr val="accent1"/>
                </a:solidFill>
              </a:rPr>
              <a:t>test case creation time</a:t>
            </a:r>
            <a:endParaRPr b="1" sz="295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vi" sz="1900"/>
              <a:t>(artificial intelligence (AI)–powered extension of VEW built on AWS for automotive testing)[1]</a:t>
            </a:r>
            <a:endParaRPr i="1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490250" y="526350"/>
            <a:ext cx="8129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2 - </a:t>
            </a:r>
            <a:r>
              <a:rPr lang="vi">
                <a:solidFill>
                  <a:schemeClr val="accent5"/>
                </a:solidFill>
              </a:rPr>
              <a:t>Experiment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AI For </a:t>
            </a:r>
            <a:r>
              <a:rPr lang="vi"/>
              <a:t>Test Case Design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Set up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vi" sz="2300"/>
              <a:t>LLM: </a:t>
            </a:r>
            <a:r>
              <a:rPr b="1" lang="vi" sz="2300"/>
              <a:t>Gemini 3 Pro, GPT-5.1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vi" sz="2300"/>
              <a:t>Turn on “Thinking” Mode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vi" sz="2300"/>
              <a:t>Turn off “Learn from Past Chat” for Gemini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vi" sz="2300"/>
              <a:t>3 Levels of Prompt</a:t>
            </a:r>
            <a:endParaRPr sz="2300"/>
          </a:p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vi" sz="2300"/>
              <a:t>User Story + AC </a:t>
            </a:r>
            <a:endParaRPr sz="2300"/>
          </a:p>
          <a:p>
            <a:pPr indent="-374649" lvl="0" marL="899999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vi" sz="2300"/>
              <a:t>User Story + AC + Testing Technique</a:t>
            </a:r>
            <a:endParaRPr sz="2300"/>
          </a:p>
          <a:p>
            <a:pPr indent="-374649" lvl="0" marL="899999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vi" sz="2300"/>
              <a:t>	User Story + AC + Testing Technique + High level TC		</a:t>
            </a:r>
            <a:endParaRPr sz="2300"/>
          </a:p>
        </p:txBody>
      </p:sp>
      <p:sp>
        <p:nvSpPr>
          <p:cNvPr id="218" name="Google Shape;218;p27"/>
          <p:cNvSpPr/>
          <p:nvPr/>
        </p:nvSpPr>
        <p:spPr>
          <a:xfrm>
            <a:off x="-5250" y="4703625"/>
            <a:ext cx="9154500" cy="155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-5250" y="4911700"/>
            <a:ext cx="9154500" cy="27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Prompts - Context (All)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900" y="1136650"/>
            <a:ext cx="67341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Prompt - Specification Source</a:t>
            </a:r>
            <a:endParaRPr/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675" y="988662"/>
            <a:ext cx="6458650" cy="374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Prompts - User Story + Accept Crit (All)</a:t>
            </a:r>
            <a:endParaRPr/>
          </a:p>
        </p:txBody>
      </p:sp>
      <p:sp>
        <p:nvSpPr>
          <p:cNvPr id="239" name="Google Shape;23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1152475"/>
            <a:ext cx="6781800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Prompt - Additional Instructions (All)</a:t>
            </a:r>
            <a:endParaRPr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75" y="1350950"/>
            <a:ext cx="68008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Prompt - Testing Technique (P2, P3)</a:t>
            </a:r>
            <a:endParaRPr/>
          </a:p>
        </p:txBody>
      </p:sp>
      <p:sp>
        <p:nvSpPr>
          <p:cNvPr id="253" name="Google Shape;25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75" y="2041525"/>
            <a:ext cx="680085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Prompt - High Level TC (P3 only)</a:t>
            </a:r>
            <a:endParaRPr/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625" y="1646225"/>
            <a:ext cx="6762750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Test scripts</a:t>
            </a:r>
            <a:endParaRPr/>
          </a:p>
        </p:txBody>
      </p:sp>
      <p:sp>
        <p:nvSpPr>
          <p:cNvPr id="267" name="Google Shape;26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700" y="1152475"/>
            <a:ext cx="23812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0938" y="1152463"/>
            <a:ext cx="2066925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863" y="1152475"/>
            <a:ext cx="187642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463" y="3996175"/>
            <a:ext cx="851308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Results - Bugs</a:t>
            </a:r>
            <a:endParaRPr/>
          </a:p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Only </a:t>
            </a:r>
            <a:r>
              <a:rPr lang="vi"/>
              <a:t>GPT with Prompt 2 detected “Email with double dots allowed” bug.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Only 3/6 suites check for DoB leap day handling.</a:t>
            </a:r>
            <a:endParaRPr/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31805"/>
            <a:ext cx="9144000" cy="3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Results - Bugs Coverage</a:t>
            </a:r>
            <a:endParaRPr/>
          </a:p>
        </p:txBody>
      </p:sp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Gemini gives less test cases than GPT while maintain similar bugs coverage.</a:t>
            </a:r>
            <a:endParaRPr/>
          </a:p>
        </p:txBody>
      </p:sp>
      <p:pic>
        <p:nvPicPr>
          <p:cNvPr id="285" name="Google Shape;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1441"/>
            <a:ext cx="9144000" cy="2098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490250" y="526350"/>
            <a:ext cx="7700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3 - AI For Unit Testing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is Unit Testing?</a:t>
            </a:r>
            <a:endParaRPr/>
          </a:p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60600" y="1980325"/>
            <a:ext cx="84228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vi" sz="2300">
                <a:latin typeface="Proxima Nova Semibold"/>
                <a:ea typeface="Proxima Nova Semibold"/>
                <a:cs typeface="Proxima Nova Semibold"/>
                <a:sym typeface="Proxima Nova Semibold"/>
              </a:rPr>
              <a:t>Developer-focused practice of testing individual code components in isolation to verify their correctness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When to do Unit Testing?</a:t>
            </a:r>
            <a:endParaRPr/>
          </a:p>
        </p:txBody>
      </p:sp>
      <p:sp>
        <p:nvSpPr>
          <p:cNvPr id="302" name="Google Shape;302;p39"/>
          <p:cNvSpPr txBox="1"/>
          <p:nvPr/>
        </p:nvSpPr>
        <p:spPr>
          <a:xfrm>
            <a:off x="381700" y="1652975"/>
            <a:ext cx="3705000" cy="461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During development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4908300" y="1652975"/>
            <a:ext cx="3705000" cy="461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Before factoring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4" name="Google Shape;304;p39"/>
          <p:cNvSpPr txBox="1"/>
          <p:nvPr/>
        </p:nvSpPr>
        <p:spPr>
          <a:xfrm>
            <a:off x="381700" y="3507100"/>
            <a:ext cx="3705000" cy="461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When fixing a bug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5" name="Google Shape;305;p39"/>
          <p:cNvSpPr txBox="1"/>
          <p:nvPr/>
        </p:nvSpPr>
        <p:spPr>
          <a:xfrm>
            <a:off x="4908300" y="3368500"/>
            <a:ext cx="3705000" cy="73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Part of Continuous Integration (CI)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a developer writes unit tests</a:t>
            </a:r>
            <a:endParaRPr/>
          </a:p>
        </p:txBody>
      </p:sp>
      <p:grpSp>
        <p:nvGrpSpPr>
          <p:cNvPr id="311" name="Google Shape;311;p40"/>
          <p:cNvGrpSpPr/>
          <p:nvPr/>
        </p:nvGrpSpPr>
        <p:grpSpPr>
          <a:xfrm>
            <a:off x="1041750" y="1261025"/>
            <a:ext cx="1948800" cy="1422900"/>
            <a:chOff x="646425" y="1800100"/>
            <a:chExt cx="1948800" cy="1422900"/>
          </a:xfrm>
        </p:grpSpPr>
        <p:sp>
          <p:nvSpPr>
            <p:cNvPr id="312" name="Google Shape;312;p40"/>
            <p:cNvSpPr/>
            <p:nvPr/>
          </p:nvSpPr>
          <p:spPr>
            <a:xfrm>
              <a:off x="646425" y="2220400"/>
              <a:ext cx="1948800" cy="1002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Analyze code requirements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13" name="Google Shape;313;p40"/>
            <p:cNvSpPr/>
            <p:nvPr/>
          </p:nvSpPr>
          <p:spPr>
            <a:xfrm>
              <a:off x="1334475" y="1800100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314" name="Google Shape;314;p40"/>
          <p:cNvGrpSpPr/>
          <p:nvPr/>
        </p:nvGrpSpPr>
        <p:grpSpPr>
          <a:xfrm>
            <a:off x="6065400" y="1261025"/>
            <a:ext cx="1948800" cy="1422900"/>
            <a:chOff x="3316575" y="1504325"/>
            <a:chExt cx="1948800" cy="1422900"/>
          </a:xfrm>
        </p:grpSpPr>
        <p:sp>
          <p:nvSpPr>
            <p:cNvPr id="315" name="Google Shape;315;p40"/>
            <p:cNvSpPr/>
            <p:nvPr/>
          </p:nvSpPr>
          <p:spPr>
            <a:xfrm>
              <a:off x="3316575" y="1914725"/>
              <a:ext cx="1948800" cy="1012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Design tests 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16" name="Google Shape;316;p40"/>
            <p:cNvSpPr/>
            <p:nvPr/>
          </p:nvSpPr>
          <p:spPr>
            <a:xfrm>
              <a:off x="4004625" y="1504325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317" name="Google Shape;317;p40"/>
          <p:cNvGrpSpPr/>
          <p:nvPr/>
        </p:nvGrpSpPr>
        <p:grpSpPr>
          <a:xfrm>
            <a:off x="6065500" y="3342713"/>
            <a:ext cx="1948800" cy="1431675"/>
            <a:chOff x="5733750" y="1504325"/>
            <a:chExt cx="1948800" cy="1431675"/>
          </a:xfrm>
        </p:grpSpPr>
        <p:sp>
          <p:nvSpPr>
            <p:cNvPr id="318" name="Google Shape;318;p40"/>
            <p:cNvSpPr/>
            <p:nvPr/>
          </p:nvSpPr>
          <p:spPr>
            <a:xfrm>
              <a:off x="5733750" y="1913000"/>
              <a:ext cx="1948800" cy="1023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Implement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19" name="Google Shape;319;p40"/>
            <p:cNvSpPr/>
            <p:nvPr/>
          </p:nvSpPr>
          <p:spPr>
            <a:xfrm>
              <a:off x="6421800" y="1504325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20" name="Google Shape;320;p40"/>
          <p:cNvSpPr/>
          <p:nvPr/>
        </p:nvSpPr>
        <p:spPr>
          <a:xfrm>
            <a:off x="1041738" y="3746300"/>
            <a:ext cx="1948800" cy="99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Run test (CI/CD)</a:t>
            </a:r>
            <a:endParaRPr b="1" sz="20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1" name="Google Shape;321;p40"/>
          <p:cNvSpPr/>
          <p:nvPr/>
        </p:nvSpPr>
        <p:spPr>
          <a:xfrm>
            <a:off x="1729788" y="3342725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22" name="Google Shape;322;p40"/>
          <p:cNvCxnSpPr>
            <a:stCxn id="312" idx="3"/>
            <a:endCxn id="315" idx="1"/>
          </p:cNvCxnSpPr>
          <p:nvPr/>
        </p:nvCxnSpPr>
        <p:spPr>
          <a:xfrm flipH="1" rot="10800000">
            <a:off x="2990550" y="2177825"/>
            <a:ext cx="3075000" cy="4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3" name="Google Shape;323;p40"/>
          <p:cNvCxnSpPr>
            <a:stCxn id="315" idx="2"/>
            <a:endCxn id="319" idx="0"/>
          </p:cNvCxnSpPr>
          <p:nvPr/>
        </p:nvCxnSpPr>
        <p:spPr>
          <a:xfrm>
            <a:off x="7039800" y="2683925"/>
            <a:ext cx="0" cy="658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24" name="Google Shape;324;p40"/>
          <p:cNvCxnSpPr>
            <a:stCxn id="318" idx="1"/>
            <a:endCxn id="320" idx="3"/>
          </p:cNvCxnSpPr>
          <p:nvPr/>
        </p:nvCxnSpPr>
        <p:spPr>
          <a:xfrm rot="10800000">
            <a:off x="2990500" y="4244588"/>
            <a:ext cx="3075000" cy="18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/>
        </p:nvSpPr>
        <p:spPr>
          <a:xfrm>
            <a:off x="428625" y="428625"/>
            <a:ext cx="87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700">
                <a:solidFill>
                  <a:srgbClr val="F97316"/>
                </a:solidFill>
                <a:latin typeface="Alfa Slab One"/>
                <a:ea typeface="Alfa Slab One"/>
                <a:cs typeface="Alfa Slab One"/>
                <a:sym typeface="Alfa Slab One"/>
              </a:rPr>
              <a:t>The unit testing paradox</a:t>
            </a:r>
            <a:endParaRPr sz="2700"/>
          </a:p>
        </p:txBody>
      </p:sp>
      <p:sp>
        <p:nvSpPr>
          <p:cNvPr id="330" name="Google Shape;330;p41"/>
          <p:cNvSpPr/>
          <p:nvPr/>
        </p:nvSpPr>
        <p:spPr>
          <a:xfrm>
            <a:off x="428625" y="1085850"/>
            <a:ext cx="8286900" cy="28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1"/>
          <p:cNvSpPr txBox="1"/>
          <p:nvPr/>
        </p:nvSpPr>
        <p:spPr>
          <a:xfrm>
            <a:off x="2074275" y="1939895"/>
            <a:ext cx="499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2300" u="none" cap="none" strike="noStrike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Why Developers "Hate" Testing</a:t>
            </a:r>
            <a:endParaRPr sz="2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2" name="Google Shape;332;p41"/>
          <p:cNvSpPr txBox="1"/>
          <p:nvPr/>
        </p:nvSpPr>
        <p:spPr>
          <a:xfrm>
            <a:off x="2074275" y="2339945"/>
            <a:ext cx="47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Repetitive “busywork”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3" name="Google Shape;333;p41"/>
          <p:cNvSpPr txBox="1"/>
          <p:nvPr/>
        </p:nvSpPr>
        <p:spPr>
          <a:xfrm>
            <a:off x="2074275" y="2954324"/>
            <a:ext cx="499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23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"Coverage Illusion"</a:t>
            </a:r>
            <a:endParaRPr sz="2300"/>
          </a:p>
        </p:txBody>
      </p:sp>
      <p:sp>
        <p:nvSpPr>
          <p:cNvPr id="334" name="Google Shape;334;p41"/>
          <p:cNvSpPr txBox="1"/>
          <p:nvPr/>
        </p:nvSpPr>
        <p:spPr>
          <a:xfrm>
            <a:off x="428700" y="3598437"/>
            <a:ext cx="475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5" name="Google Shape;335;p41"/>
          <p:cNvSpPr txBox="1"/>
          <p:nvPr/>
        </p:nvSpPr>
        <p:spPr>
          <a:xfrm>
            <a:off x="2074275" y="3353008"/>
            <a:ext cx="461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vi" sz="20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100% Coverage ≠ 100% Bug-free.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can AI really do for Unit testing?</a:t>
            </a:r>
            <a:endParaRPr/>
          </a:p>
        </p:txBody>
      </p:sp>
      <p:grpSp>
        <p:nvGrpSpPr>
          <p:cNvPr id="341" name="Google Shape;341;p42"/>
          <p:cNvGrpSpPr/>
          <p:nvPr/>
        </p:nvGrpSpPr>
        <p:grpSpPr>
          <a:xfrm>
            <a:off x="1041750" y="1253713"/>
            <a:ext cx="1948800" cy="1422900"/>
            <a:chOff x="646425" y="1800100"/>
            <a:chExt cx="1948800" cy="1422900"/>
          </a:xfrm>
        </p:grpSpPr>
        <p:sp>
          <p:nvSpPr>
            <p:cNvPr id="342" name="Google Shape;342;p42"/>
            <p:cNvSpPr/>
            <p:nvPr/>
          </p:nvSpPr>
          <p:spPr>
            <a:xfrm>
              <a:off x="646425" y="2220400"/>
              <a:ext cx="1948800" cy="1002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Generate test scaffolding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43" name="Google Shape;343;p42"/>
            <p:cNvSpPr/>
            <p:nvPr/>
          </p:nvSpPr>
          <p:spPr>
            <a:xfrm>
              <a:off x="1334475" y="1800100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344" name="Google Shape;344;p42"/>
          <p:cNvGrpSpPr/>
          <p:nvPr/>
        </p:nvGrpSpPr>
        <p:grpSpPr>
          <a:xfrm>
            <a:off x="5812650" y="1261025"/>
            <a:ext cx="2454300" cy="1408275"/>
            <a:chOff x="3063825" y="1504325"/>
            <a:chExt cx="2454300" cy="1408275"/>
          </a:xfrm>
        </p:grpSpPr>
        <p:sp>
          <p:nvSpPr>
            <p:cNvPr id="345" name="Google Shape;345;p42"/>
            <p:cNvSpPr/>
            <p:nvPr/>
          </p:nvSpPr>
          <p:spPr>
            <a:xfrm>
              <a:off x="3063825" y="1900100"/>
              <a:ext cx="2454300" cy="1012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Coverage-Driven Generation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46" name="Google Shape;346;p42"/>
            <p:cNvSpPr/>
            <p:nvPr/>
          </p:nvSpPr>
          <p:spPr>
            <a:xfrm>
              <a:off x="4004625" y="1504325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347" name="Google Shape;347;p42"/>
          <p:cNvGrpSpPr/>
          <p:nvPr/>
        </p:nvGrpSpPr>
        <p:grpSpPr>
          <a:xfrm>
            <a:off x="6065500" y="3308388"/>
            <a:ext cx="1948800" cy="1466000"/>
            <a:chOff x="5733750" y="1470000"/>
            <a:chExt cx="1948800" cy="1466000"/>
          </a:xfrm>
        </p:grpSpPr>
        <p:sp>
          <p:nvSpPr>
            <p:cNvPr id="348" name="Google Shape;348;p42"/>
            <p:cNvSpPr/>
            <p:nvPr/>
          </p:nvSpPr>
          <p:spPr>
            <a:xfrm>
              <a:off x="5733750" y="1913000"/>
              <a:ext cx="1948800" cy="1023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Autonomous test suite creation</a:t>
              </a:r>
              <a:endParaRPr b="1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349" name="Google Shape;349;p42"/>
            <p:cNvSpPr/>
            <p:nvPr/>
          </p:nvSpPr>
          <p:spPr>
            <a:xfrm>
              <a:off x="6421800" y="1470000"/>
              <a:ext cx="572700" cy="572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200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50" name="Google Shape;350;p42"/>
          <p:cNvSpPr/>
          <p:nvPr/>
        </p:nvSpPr>
        <p:spPr>
          <a:xfrm>
            <a:off x="1041738" y="3746300"/>
            <a:ext cx="1948800" cy="996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Test repair &amp; Enhancement</a:t>
            </a:r>
            <a:endParaRPr b="1" sz="20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1" name="Google Shape;351;p42"/>
          <p:cNvSpPr/>
          <p:nvPr/>
        </p:nvSpPr>
        <p:spPr>
          <a:xfrm>
            <a:off x="1729788" y="3308400"/>
            <a:ext cx="572700" cy="572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 sz="2000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52" name="Google Shape;352;p42"/>
          <p:cNvCxnSpPr>
            <a:stCxn id="342" idx="3"/>
            <a:endCxn id="345" idx="1"/>
          </p:cNvCxnSpPr>
          <p:nvPr/>
        </p:nvCxnSpPr>
        <p:spPr>
          <a:xfrm flipH="1" rot="10800000">
            <a:off x="2990550" y="2163013"/>
            <a:ext cx="2822100" cy="12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53" name="Google Shape;353;p42"/>
          <p:cNvCxnSpPr>
            <a:stCxn id="345" idx="2"/>
            <a:endCxn id="349" idx="0"/>
          </p:cNvCxnSpPr>
          <p:nvPr/>
        </p:nvCxnSpPr>
        <p:spPr>
          <a:xfrm>
            <a:off x="7039800" y="2669300"/>
            <a:ext cx="0" cy="639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54" name="Google Shape;354;p42"/>
          <p:cNvCxnSpPr>
            <a:stCxn id="348" idx="1"/>
            <a:endCxn id="350" idx="3"/>
          </p:cNvCxnSpPr>
          <p:nvPr/>
        </p:nvCxnSpPr>
        <p:spPr>
          <a:xfrm rot="10800000">
            <a:off x="2990500" y="4244588"/>
            <a:ext cx="3075000" cy="18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69" y="1033388"/>
            <a:ext cx="4800600" cy="4070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69" y="1734367"/>
            <a:ext cx="48006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6251" y="3806055"/>
            <a:ext cx="3383235" cy="585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3"/>
          <p:cNvSpPr txBox="1"/>
          <p:nvPr/>
        </p:nvSpPr>
        <p:spPr>
          <a:xfrm>
            <a:off x="428625" y="428625"/>
            <a:ext cx="87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700">
                <a:solidFill>
                  <a:srgbClr val="F97316"/>
                </a:solidFill>
                <a:latin typeface="Alfa Slab One"/>
                <a:ea typeface="Alfa Slab One"/>
                <a:cs typeface="Alfa Slab One"/>
                <a:sym typeface="Alfa Slab One"/>
              </a:rPr>
              <a:t>The fundamental limitation</a:t>
            </a:r>
            <a:endParaRPr sz="2700"/>
          </a:p>
        </p:txBody>
      </p:sp>
      <p:sp>
        <p:nvSpPr>
          <p:cNvPr id="363" name="Google Shape;363;p43"/>
          <p:cNvSpPr/>
          <p:nvPr/>
        </p:nvSpPr>
        <p:spPr>
          <a:xfrm>
            <a:off x="428550" y="1124825"/>
            <a:ext cx="8286900" cy="28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3"/>
          <p:cNvSpPr txBox="1"/>
          <p:nvPr/>
        </p:nvSpPr>
        <p:spPr>
          <a:xfrm>
            <a:off x="5602125" y="2760988"/>
            <a:ext cx="262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2000" u="none" cap="none" strike="noStrike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It </a:t>
            </a:r>
            <a:r>
              <a:rPr b="1" lang="vi" sz="2000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can run</a:t>
            </a:r>
            <a:endParaRPr b="1" sz="2000">
              <a:solidFill>
                <a:srgbClr val="1E293B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BUT</a:t>
            </a:r>
            <a:r>
              <a:rPr b="1" i="0" lang="vi" sz="2000" u="none" cap="none" strike="noStrike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vi" sz="2000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1" i="0" lang="vi" sz="2000" u="none" cap="none" strike="noStrike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t </a:t>
            </a:r>
            <a:r>
              <a:rPr b="1" lang="vi" sz="2000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b="1" i="0" lang="vi" sz="2000" u="none" cap="none" strike="noStrike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an't </a:t>
            </a:r>
            <a:r>
              <a:rPr b="1" lang="vi" sz="2000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b="1" i="0" lang="vi" sz="2000" u="none" cap="none" strike="noStrike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udge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5" name="Google Shape;365;p43"/>
          <p:cNvSpPr txBox="1"/>
          <p:nvPr/>
        </p:nvSpPr>
        <p:spPr>
          <a:xfrm>
            <a:off x="5593350" y="2335875"/>
            <a:ext cx="250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6" name="Google Shape;366;p43"/>
          <p:cNvSpPr txBox="1"/>
          <p:nvPr/>
        </p:nvSpPr>
        <p:spPr>
          <a:xfrm>
            <a:off x="1439138" y="2220143"/>
            <a:ext cx="268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16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Test Oracle Problem</a:t>
            </a:r>
            <a:endParaRPr sz="1100"/>
          </a:p>
        </p:txBody>
      </p:sp>
      <p:sp>
        <p:nvSpPr>
          <p:cNvPr id="367" name="Google Shape;367;p43"/>
          <p:cNvSpPr txBox="1"/>
          <p:nvPr/>
        </p:nvSpPr>
        <p:spPr>
          <a:xfrm>
            <a:off x="5702444" y="2904964"/>
            <a:ext cx="5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8" name="Google Shape;368;p43"/>
          <p:cNvSpPr txBox="1"/>
          <p:nvPr/>
        </p:nvSpPr>
        <p:spPr>
          <a:xfrm>
            <a:off x="5686219" y="4719030"/>
            <a:ext cx="50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vi" sz="12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•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9" name="Google Shape;369;p43"/>
          <p:cNvSpPr txBox="1"/>
          <p:nvPr/>
        </p:nvSpPr>
        <p:spPr>
          <a:xfrm>
            <a:off x="5736225" y="4718315"/>
            <a:ext cx="2360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1200" u="none" cap="none" strike="noStrike">
                <a:solidFill>
                  <a:srgbClr val="F97316"/>
                </a:solidFill>
                <a:latin typeface="Proxima Nova"/>
                <a:ea typeface="Proxima Nova"/>
                <a:cs typeface="Proxima Nova"/>
                <a:sym typeface="Proxima Nova"/>
              </a:rPr>
              <a:t>Risk:</a:t>
            </a:r>
            <a:r>
              <a:rPr i="0" lang="vi" sz="12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 If your code has a bug, the AI might write a test that </a:t>
            </a:r>
            <a:r>
              <a:rPr i="1" lang="vi" sz="12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passes</a:t>
            </a:r>
            <a:r>
              <a:rPr i="0" lang="vi" sz="12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 the bug, treating the error as "correct behavior".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image.png" id="370" name="Google Shape;370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9219" y="397036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3"/>
          <p:cNvSpPr txBox="1"/>
          <p:nvPr/>
        </p:nvSpPr>
        <p:spPr>
          <a:xfrm>
            <a:off x="2232094" y="3963218"/>
            <a:ext cx="11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MISSING CONTEXT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6" name="Google Shape;3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69" y="1033388"/>
            <a:ext cx="4800600" cy="4070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69" y="1734367"/>
            <a:ext cx="48006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6251" y="3806055"/>
            <a:ext cx="3383235" cy="585787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4"/>
          <p:cNvSpPr txBox="1"/>
          <p:nvPr/>
        </p:nvSpPr>
        <p:spPr>
          <a:xfrm>
            <a:off x="428625" y="428625"/>
            <a:ext cx="87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700">
                <a:solidFill>
                  <a:srgbClr val="F97316"/>
                </a:solidFill>
                <a:latin typeface="Alfa Slab One"/>
                <a:ea typeface="Alfa Slab One"/>
                <a:cs typeface="Alfa Slab One"/>
                <a:sym typeface="Alfa Slab One"/>
              </a:rPr>
              <a:t>The fundamental limitation</a:t>
            </a:r>
            <a:endParaRPr sz="2700"/>
          </a:p>
        </p:txBody>
      </p:sp>
      <p:sp>
        <p:nvSpPr>
          <p:cNvPr id="380" name="Google Shape;380;p44"/>
          <p:cNvSpPr/>
          <p:nvPr/>
        </p:nvSpPr>
        <p:spPr>
          <a:xfrm>
            <a:off x="428550" y="1124825"/>
            <a:ext cx="8286900" cy="28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4"/>
          <p:cNvSpPr txBox="1"/>
          <p:nvPr/>
        </p:nvSpPr>
        <p:spPr>
          <a:xfrm>
            <a:off x="5602125" y="2760988"/>
            <a:ext cx="262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rgbClr val="1E293B"/>
                </a:solidFill>
                <a:latin typeface="Proxima Nova"/>
                <a:ea typeface="Proxima Nova"/>
                <a:cs typeface="Proxima Nova"/>
                <a:sym typeface="Proxima Nova"/>
              </a:rPr>
              <a:t>You are the </a:t>
            </a:r>
            <a:r>
              <a:rPr b="1" lang="vi" sz="20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ORACLE</a:t>
            </a:r>
            <a:endParaRPr sz="20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2" name="Google Shape;382;p44"/>
          <p:cNvSpPr txBox="1"/>
          <p:nvPr/>
        </p:nvSpPr>
        <p:spPr>
          <a:xfrm>
            <a:off x="5593350" y="2335875"/>
            <a:ext cx="250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3" name="Google Shape;383;p44"/>
          <p:cNvSpPr txBox="1"/>
          <p:nvPr/>
        </p:nvSpPr>
        <p:spPr>
          <a:xfrm>
            <a:off x="1439138" y="2220143"/>
            <a:ext cx="268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16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Test Oracle Problem</a:t>
            </a:r>
            <a:endParaRPr sz="1100"/>
          </a:p>
        </p:txBody>
      </p:sp>
      <p:sp>
        <p:nvSpPr>
          <p:cNvPr id="384" name="Google Shape;384;p44"/>
          <p:cNvSpPr txBox="1"/>
          <p:nvPr/>
        </p:nvSpPr>
        <p:spPr>
          <a:xfrm>
            <a:off x="5702444" y="2904964"/>
            <a:ext cx="5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5686219" y="4719030"/>
            <a:ext cx="50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vi" sz="12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•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5736225" y="4718315"/>
            <a:ext cx="2360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1200" u="none" cap="none" strike="noStrike">
                <a:solidFill>
                  <a:srgbClr val="F97316"/>
                </a:solidFill>
                <a:latin typeface="Proxima Nova"/>
                <a:ea typeface="Proxima Nova"/>
                <a:cs typeface="Proxima Nova"/>
                <a:sym typeface="Proxima Nova"/>
              </a:rPr>
              <a:t>Risk:</a:t>
            </a:r>
            <a:r>
              <a:rPr i="0" lang="vi" sz="12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 If your code has a bug, the AI might write a test that </a:t>
            </a:r>
            <a:r>
              <a:rPr i="1" lang="vi" sz="12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passes</a:t>
            </a:r>
            <a:r>
              <a:rPr i="0" lang="vi" sz="1200" u="none" cap="none" strike="noStrike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 the bug, treating the error as "correct behavior".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image.png" id="387" name="Google Shape;387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9219" y="397036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4"/>
          <p:cNvSpPr txBox="1"/>
          <p:nvPr/>
        </p:nvSpPr>
        <p:spPr>
          <a:xfrm>
            <a:off x="2232094" y="3963218"/>
            <a:ext cx="11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z="900" u="none" cap="none" strike="noStrike">
                <a:solidFill>
                  <a:srgbClr val="F97316"/>
                </a:solidFill>
                <a:latin typeface="Montserrat"/>
                <a:ea typeface="Montserrat"/>
                <a:cs typeface="Montserrat"/>
                <a:sym typeface="Montserrat"/>
              </a:rPr>
              <a:t>MISSING CONTEXT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/>
          <p:nvPr>
            <p:ph type="title"/>
          </p:nvPr>
        </p:nvSpPr>
        <p:spPr>
          <a:xfrm>
            <a:off x="490250" y="526350"/>
            <a:ext cx="7629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4 -</a:t>
            </a:r>
            <a:r>
              <a:rPr lang="vi"/>
              <a:t> </a:t>
            </a:r>
            <a:r>
              <a:rPr lang="vi">
                <a:solidFill>
                  <a:schemeClr val="accent5"/>
                </a:solidFill>
              </a:rPr>
              <a:t>Experiment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AI For Unit Testing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6"/>
          <p:cNvSpPr txBox="1"/>
          <p:nvPr>
            <p:ph type="title"/>
          </p:nvPr>
        </p:nvSpPr>
        <p:spPr>
          <a:xfrm>
            <a:off x="1250750" y="2892150"/>
            <a:ext cx="2478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UnitTestAI</a:t>
            </a:r>
            <a:endParaRPr/>
          </a:p>
        </p:txBody>
      </p:sp>
      <p:pic>
        <p:nvPicPr>
          <p:cNvPr id="399" name="Google Shape;39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850" y="33190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3800" y="350950"/>
            <a:ext cx="24003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6"/>
          <p:cNvSpPr txBox="1"/>
          <p:nvPr>
            <p:ph type="title"/>
          </p:nvPr>
        </p:nvSpPr>
        <p:spPr>
          <a:xfrm>
            <a:off x="5414650" y="2892150"/>
            <a:ext cx="2478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Qodo</a:t>
            </a:r>
            <a:endParaRPr/>
          </a:p>
        </p:txBody>
      </p:sp>
      <p:sp>
        <p:nvSpPr>
          <p:cNvPr id="402" name="Google Shape;402;p46"/>
          <p:cNvSpPr txBox="1"/>
          <p:nvPr>
            <p:ph type="title"/>
          </p:nvPr>
        </p:nvSpPr>
        <p:spPr>
          <a:xfrm>
            <a:off x="214050" y="4033150"/>
            <a:ext cx="8715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Generate test cases by observing </a:t>
            </a:r>
            <a:r>
              <a:rPr b="1" lang="vi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function signature</a:t>
            </a:r>
            <a:r>
              <a:rPr lang="vi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1" lang="vi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code in function</a:t>
            </a:r>
            <a:r>
              <a:rPr lang="vi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b="1" lang="vi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natural-language comment</a:t>
            </a:r>
            <a:endParaRPr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/>
          <p:nvPr>
            <p:ph type="title"/>
          </p:nvPr>
        </p:nvSpPr>
        <p:spPr>
          <a:xfrm>
            <a:off x="1081700" y="445025"/>
            <a:ext cx="498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UnitTestAI</a:t>
            </a:r>
            <a:endParaRPr/>
          </a:p>
        </p:txBody>
      </p:sp>
      <p:sp>
        <p:nvSpPr>
          <p:cNvPr id="408" name="Google Shape;408;p47"/>
          <p:cNvSpPr txBox="1"/>
          <p:nvPr>
            <p:ph idx="1" type="body"/>
          </p:nvPr>
        </p:nvSpPr>
        <p:spPr>
          <a:xfrm>
            <a:off x="311700" y="1152475"/>
            <a:ext cx="51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">
                <a:solidFill>
                  <a:schemeClr val="accent3"/>
                </a:solidFill>
              </a:rPr>
              <a:t>Automatic language detection</a:t>
            </a:r>
            <a:r>
              <a:rPr lang="vi"/>
              <a:t> based on the selected code block.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">
                <a:solidFill>
                  <a:schemeClr val="accent3"/>
                </a:solidFill>
              </a:rPr>
              <a:t>Framework suggestions:</a:t>
            </a:r>
            <a:r>
              <a:rPr lang="vi"/>
              <a:t> Provides a list of relevant test frameworks for the detected language.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">
                <a:solidFill>
                  <a:schemeClr val="accent3"/>
                </a:solidFill>
              </a:rPr>
              <a:t>Highly versatile and user-friendly</a:t>
            </a:r>
            <a:r>
              <a:rPr lang="vi"/>
              <a:t>, allowing developers to keep using their preferred tools and testing practices.</a:t>
            </a:r>
            <a:endParaRPr/>
          </a:p>
        </p:txBody>
      </p:sp>
      <p:pic>
        <p:nvPicPr>
          <p:cNvPr id="409" name="Google Shape;4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8100" y="845250"/>
            <a:ext cx="3344700" cy="345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1081700" y="445025"/>
            <a:ext cx="498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Qodo</a:t>
            </a:r>
            <a:endParaRPr/>
          </a:p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51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">
                <a:solidFill>
                  <a:schemeClr val="accent3"/>
                </a:solidFill>
              </a:rPr>
              <a:t>Automatic test generation</a:t>
            </a:r>
            <a:r>
              <a:rPr lang="vi"/>
              <a:t> for new or changed code, improving test coverage.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">
                <a:solidFill>
                  <a:schemeClr val="accent3"/>
                </a:solidFill>
              </a:rPr>
              <a:t>Customizable rules</a:t>
            </a:r>
            <a:r>
              <a:rPr lang="vi"/>
              <a:t> that enforce organizational testing, quality, and security standards consistently.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">
                <a:solidFill>
                  <a:schemeClr val="accent3"/>
                </a:solidFill>
              </a:rPr>
              <a:t>High-precision</a:t>
            </a:r>
            <a:r>
              <a:rPr lang="vi"/>
              <a:t> automated code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">
                <a:solidFill>
                  <a:schemeClr val="accent3"/>
                </a:solidFill>
              </a:rPr>
              <a:t>1-click issue resolution</a:t>
            </a:r>
            <a:r>
              <a:rPr lang="vi"/>
              <a:t> to quickly fix detected problems.</a:t>
            </a:r>
            <a:endParaRPr/>
          </a:p>
        </p:txBody>
      </p:sp>
      <p:pic>
        <p:nvPicPr>
          <p:cNvPr id="417" name="Google Shape;4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5475" y="254299"/>
            <a:ext cx="1832100" cy="476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Experiment Design</a:t>
            </a:r>
            <a:endParaRPr/>
          </a:p>
        </p:txBody>
      </p:sp>
      <p:pic>
        <p:nvPicPr>
          <p:cNvPr id="424" name="Google Shape;42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63" y="1432752"/>
            <a:ext cx="1230100" cy="12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63" y="2800977"/>
            <a:ext cx="1230100" cy="12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114" y="2800978"/>
            <a:ext cx="1215920" cy="123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6027" y="1432752"/>
            <a:ext cx="1230100" cy="12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9"/>
          <p:cNvSpPr txBox="1"/>
          <p:nvPr/>
        </p:nvSpPr>
        <p:spPr>
          <a:xfrm>
            <a:off x="1713" y="4262277"/>
            <a:ext cx="217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Tools</a:t>
            </a: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9" name="Google Shape;429;p49"/>
          <p:cNvSpPr txBox="1"/>
          <p:nvPr/>
        </p:nvSpPr>
        <p:spPr>
          <a:xfrm>
            <a:off x="3142077" y="4262277"/>
            <a:ext cx="217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</a:t>
            </a: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0" name="Google Shape;430;p49"/>
          <p:cNvSpPr txBox="1"/>
          <p:nvPr/>
        </p:nvSpPr>
        <p:spPr>
          <a:xfrm>
            <a:off x="6369763" y="1368302"/>
            <a:ext cx="2369400" cy="461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Code Coverage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1" name="Google Shape;431;p49"/>
          <p:cNvSpPr txBox="1"/>
          <p:nvPr/>
        </p:nvSpPr>
        <p:spPr>
          <a:xfrm>
            <a:off x="6369763" y="3138411"/>
            <a:ext cx="2369400" cy="73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Readability &amp; Documentation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2" name="Google Shape;432;p49"/>
          <p:cNvSpPr txBox="1"/>
          <p:nvPr/>
        </p:nvSpPr>
        <p:spPr>
          <a:xfrm>
            <a:off x="6369763" y="2271266"/>
            <a:ext cx="2369400" cy="461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Test Suite Efficiency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3" name="Google Shape;433;p49"/>
          <p:cNvSpPr txBox="1"/>
          <p:nvPr/>
        </p:nvSpPr>
        <p:spPr>
          <a:xfrm>
            <a:off x="6465463" y="4262289"/>
            <a:ext cx="217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Criteria</a:t>
            </a: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2234900" y="2571750"/>
            <a:ext cx="909300" cy="3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5" name="Google Shape;435;p49"/>
          <p:cNvSpPr/>
          <p:nvPr/>
        </p:nvSpPr>
        <p:spPr>
          <a:xfrm>
            <a:off x="5181950" y="2571750"/>
            <a:ext cx="909300" cy="3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Experiment</a:t>
            </a:r>
            <a:r>
              <a:rPr lang="vi"/>
              <a:t> Result - Code Coverage</a:t>
            </a:r>
            <a:endParaRPr/>
          </a:p>
        </p:txBody>
      </p:sp>
      <p:graphicFrame>
        <p:nvGraphicFramePr>
          <p:cNvPr id="441" name="Google Shape;441;p50"/>
          <p:cNvGraphicFramePr/>
          <p:nvPr/>
        </p:nvGraphicFramePr>
        <p:xfrm>
          <a:off x="952500" y="128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{ADA966AB-0153-49B2-8CC4-404B1B75563B}</a:tableStyleId>
              </a:tblPr>
              <a:tblGrid>
                <a:gridCol w="3619500"/>
                <a:gridCol w="3619500"/>
              </a:tblGrid>
              <a:tr h="62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3000">
                          <a:solidFill>
                            <a:schemeClr val="accent3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Qodo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3000">
                          <a:solidFill>
                            <a:schemeClr val="accent3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UnitTestAI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Qodo effectively </a:t>
                      </a:r>
                      <a:r>
                        <a:rPr b="1"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achieved full logical coverage</a:t>
                      </a:r>
                      <a:r>
                        <a:rPr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by explicitly creating tests for all possible outcomes and failure modes defined by the problem's constraints.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UnitTest AI provided </a:t>
                      </a:r>
                      <a:r>
                        <a:rPr b="1"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good baseline coverage</a:t>
                      </a:r>
                      <a:r>
                        <a:rPr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, ensuring the function works for sample cases, basic inputs, and standard boundary conditions.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1"/>
          <p:cNvSpPr txBox="1"/>
          <p:nvPr>
            <p:ph type="title"/>
          </p:nvPr>
        </p:nvSpPr>
        <p:spPr>
          <a:xfrm>
            <a:off x="311700" y="22295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Experiment Result - </a:t>
            </a:r>
            <a:r>
              <a:rPr lang="vi"/>
              <a:t>Test Suite Efficiency</a:t>
            </a:r>
            <a:endParaRPr/>
          </a:p>
        </p:txBody>
      </p:sp>
      <p:graphicFrame>
        <p:nvGraphicFramePr>
          <p:cNvPr id="447" name="Google Shape;447;p51"/>
          <p:cNvGraphicFramePr/>
          <p:nvPr/>
        </p:nvGraphicFramePr>
        <p:xfrm>
          <a:off x="952500" y="91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{ADA966AB-0153-49B2-8CC4-404B1B75563B}</a:tableStyleId>
              </a:tblPr>
              <a:tblGrid>
                <a:gridCol w="3619500"/>
                <a:gridCol w="3619500"/>
              </a:tblGrid>
              <a:tr h="62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3000">
                          <a:solidFill>
                            <a:schemeClr val="accent3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Qodo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3000">
                          <a:solidFill>
                            <a:schemeClr val="accent3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UnitTestAI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Sacrifices Speed for Strength. </a:t>
                      </a:r>
                      <a:r>
                        <a:rPr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Introduced heavy-duty helper functions, such as the brute-force optimizer in Problem 2. This approach guarantees the optimal solution is checked, but it can lead to significantly longer execution times as the constraints increase.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Prioritizes Speed.</a:t>
                      </a:r>
                      <a:r>
                        <a:rPr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All tests run quickly as they rely purely on the tested algorithm without computationally expensive verification (like brute force). This makes for faster developer feedback cycles.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2"/>
          <p:cNvSpPr txBox="1"/>
          <p:nvPr>
            <p:ph type="title"/>
          </p:nvPr>
        </p:nvSpPr>
        <p:spPr>
          <a:xfrm>
            <a:off x="311700" y="3160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Experiment Result - </a:t>
            </a:r>
            <a:r>
              <a:rPr lang="vi"/>
              <a:t>Readability and Documentation</a:t>
            </a:r>
            <a:endParaRPr/>
          </a:p>
        </p:txBody>
      </p:sp>
      <p:graphicFrame>
        <p:nvGraphicFramePr>
          <p:cNvPr id="453" name="Google Shape;453;p52"/>
          <p:cNvGraphicFramePr/>
          <p:nvPr/>
        </p:nvGraphicFramePr>
        <p:xfrm>
          <a:off x="952500" y="14313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{ADA966AB-0153-49B2-8CC4-404B1B75563B}</a:tableStyleId>
              </a:tblPr>
              <a:tblGrid>
                <a:gridCol w="3619500"/>
                <a:gridCol w="3619500"/>
              </a:tblGrid>
              <a:tr h="62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3000">
                          <a:solidFill>
                            <a:schemeClr val="accent3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Qodo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3000">
                          <a:solidFill>
                            <a:schemeClr val="accent3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UnitTestAI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Superior Clarity. </a:t>
                      </a:r>
                      <a:r>
                        <a:rPr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Each test function is often accompanied by detailed comments explaining the logical purpose, expected path, and reasoning for the case, significantly aiding human understanding and debugging.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Functional Clarity.</a:t>
                      </a:r>
                      <a:r>
                        <a:rPr lang="vi" sz="18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Uses clear, descriptive function names, but generally lacks the rich, problem-specific commentary provided by Qodo, relying on the test's input/output to convey its purpose.</a:t>
                      </a:r>
                      <a:endParaRPr sz="18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"/>
          <p:cNvSpPr txBox="1"/>
          <p:nvPr>
            <p:ph type="title"/>
          </p:nvPr>
        </p:nvSpPr>
        <p:spPr>
          <a:xfrm>
            <a:off x="311700" y="12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Demo - UnitTestAI</a:t>
            </a:r>
            <a:endParaRPr/>
          </a:p>
        </p:txBody>
      </p:sp>
      <p:sp>
        <p:nvSpPr>
          <p:cNvPr id="459" name="Google Shape;459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53" title="unittesta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850" y="739613"/>
            <a:ext cx="7246300" cy="42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BUT</a:t>
            </a:r>
            <a:endParaRPr/>
          </a:p>
        </p:txBody>
      </p:sp>
      <p:cxnSp>
        <p:nvCxnSpPr>
          <p:cNvPr id="466" name="Google Shape;466;p54"/>
          <p:cNvCxnSpPr/>
          <p:nvPr/>
        </p:nvCxnSpPr>
        <p:spPr>
          <a:xfrm>
            <a:off x="1683275" y="1083150"/>
            <a:ext cx="0" cy="3413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diamond"/>
            <a:tailEnd len="med" w="med" type="diamond"/>
          </a:ln>
        </p:spPr>
      </p:cxnSp>
      <p:grpSp>
        <p:nvGrpSpPr>
          <p:cNvPr id="467" name="Google Shape;467;p54"/>
          <p:cNvGrpSpPr/>
          <p:nvPr/>
        </p:nvGrpSpPr>
        <p:grpSpPr>
          <a:xfrm>
            <a:off x="1688125" y="1482800"/>
            <a:ext cx="2537700" cy="492600"/>
            <a:chOff x="849925" y="1635200"/>
            <a:chExt cx="2537700" cy="492600"/>
          </a:xfrm>
        </p:grpSpPr>
        <p:sp>
          <p:nvSpPr>
            <p:cNvPr id="468" name="Google Shape;468;p54"/>
            <p:cNvSpPr txBox="1"/>
            <p:nvPr/>
          </p:nvSpPr>
          <p:spPr>
            <a:xfrm>
              <a:off x="1209625" y="1635200"/>
              <a:ext cx="2178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2000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Privacy</a:t>
              </a:r>
              <a:endParaRPr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cxnSp>
          <p:nvCxnSpPr>
            <p:cNvPr id="469" name="Google Shape;469;p54"/>
            <p:cNvCxnSpPr>
              <a:stCxn id="468" idx="1"/>
            </p:cNvCxnSpPr>
            <p:nvPr/>
          </p:nvCxnSpPr>
          <p:spPr>
            <a:xfrm rot="10800000">
              <a:off x="849925" y="1881500"/>
              <a:ext cx="359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  <p:sp>
        <p:nvSpPr>
          <p:cNvPr id="470" name="Google Shape;470;p54"/>
          <p:cNvSpPr txBox="1"/>
          <p:nvPr/>
        </p:nvSpPr>
        <p:spPr>
          <a:xfrm>
            <a:off x="5071375" y="2179200"/>
            <a:ext cx="2374200" cy="78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HUMANS</a:t>
            </a:r>
            <a:r>
              <a:rPr b="1" lang="vi" sz="3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sz="3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71" name="Google Shape;471;p54"/>
          <p:cNvGrpSpPr/>
          <p:nvPr/>
        </p:nvGrpSpPr>
        <p:grpSpPr>
          <a:xfrm>
            <a:off x="1692925" y="2903175"/>
            <a:ext cx="2528100" cy="800400"/>
            <a:chOff x="6222675" y="2350875"/>
            <a:chExt cx="2528100" cy="800400"/>
          </a:xfrm>
        </p:grpSpPr>
        <p:sp>
          <p:nvSpPr>
            <p:cNvPr id="472" name="Google Shape;472;p54"/>
            <p:cNvSpPr txBox="1"/>
            <p:nvPr/>
          </p:nvSpPr>
          <p:spPr>
            <a:xfrm>
              <a:off x="6572775" y="2350875"/>
              <a:ext cx="2178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2000">
                  <a:solidFill>
                    <a:schemeClr val="dk2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Generative AI is probabilistic.</a:t>
              </a:r>
              <a:endParaRPr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cxnSp>
          <p:nvCxnSpPr>
            <p:cNvPr id="473" name="Google Shape;473;p54"/>
            <p:cNvCxnSpPr>
              <a:stCxn id="472" idx="1"/>
            </p:cNvCxnSpPr>
            <p:nvPr/>
          </p:nvCxnSpPr>
          <p:spPr>
            <a:xfrm rot="10800000">
              <a:off x="6222675" y="2751075"/>
              <a:ext cx="350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oval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QnA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References</a:t>
            </a:r>
            <a:endParaRPr/>
          </a:p>
        </p:txBody>
      </p:sp>
      <p:sp>
        <p:nvSpPr>
          <p:cNvPr id="484" name="Google Shape;48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[1] Tobias Drees, Daniel Krumpholz, and Stanislav Kruglov. Using generative ai to create test cases for software requirements | aws for industries, Jan 2025. </a:t>
            </a:r>
            <a:r>
              <a:rPr lang="vi" sz="1500" u="sng">
                <a:solidFill>
                  <a:schemeClr val="hlink"/>
                </a:solidFill>
                <a:hlinkClick r:id="rId3"/>
              </a:rPr>
              <a:t>https://aws.amazon.com/blogs/industries/using-generative-ai-to-create-test-cases-for-software-requirements/</a:t>
            </a:r>
            <a:r>
              <a:rPr lang="vi" sz="1500"/>
              <a:t>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500"/>
              <a:t>[2] Tariq M. King, Jason Arbon, Dionny Santiago, David Adamo, Wendy Chin, and </a:t>
            </a:r>
            <a:r>
              <a:rPr lang="vi" sz="1500"/>
              <a:t>R</a:t>
            </a:r>
            <a:r>
              <a:rPr lang="vi" sz="1500"/>
              <a:t>am Shanmugam. Ai for testing today and tomorrow: Industry perspectives. In 2019 IEEE International Conference On Artificial Intelligence Testing (AITest), pages 81–88, 2019. doi: 10.1109/AITest.2019.000-3.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500"/>
              <a:t>‌</a:t>
            </a:r>
            <a:endParaRPr sz="15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Acknowledgements</a:t>
            </a:r>
            <a:endParaRPr/>
          </a:p>
        </p:txBody>
      </p:sp>
      <p:sp>
        <p:nvSpPr>
          <p:cNvPr id="490" name="Google Shape;49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User icons created by Ch.designer - Flaticon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Artificial intelligence icons created by FACH - Flaticon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